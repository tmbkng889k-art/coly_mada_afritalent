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3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EE4C5-BB11-47C2-889D-5575B381D125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4B582-4D2B-4001-B3AA-CB3FBCEC19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96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4B582-4D2B-4001-B3AA-CB3FBCEC194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5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113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873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612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2213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240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195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532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903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437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350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28867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199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052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393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528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025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9759B-10E0-4E92-911B-A437661F825B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7A89E82-40D5-43AE-A379-B184797D20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02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93" r:id="rId10"/>
    <p:sldLayoutId id="2147484194" r:id="rId11"/>
    <p:sldLayoutId id="2147484195" r:id="rId12"/>
    <p:sldLayoutId id="2147484196" r:id="rId13"/>
    <p:sldLayoutId id="2147484197" r:id="rId14"/>
    <p:sldLayoutId id="2147484198" r:id="rId15"/>
    <p:sldLayoutId id="2147484199" r:id="rId16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250">
        <p15:prstTrans prst="curtains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9AB4-EE3C-2905-A04B-9CBDCA806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661" y="389749"/>
            <a:ext cx="7629988" cy="2475719"/>
          </a:xfrm>
        </p:spPr>
        <p:txBody>
          <a:bodyPr>
            <a:normAutofit/>
          </a:bodyPr>
          <a:lstStyle/>
          <a:p>
            <a:r>
              <a:rPr lang="fr-FR" b="1" u="sng" dirty="0" err="1">
                <a:highlight>
                  <a:srgbClr val="000000"/>
                </a:highlight>
                <a:latin typeface="Arial Black" panose="020B0A04020102020204" pitchFamily="34" charset="0"/>
              </a:rPr>
              <a:t>AfriTalent</a:t>
            </a:r>
            <a:br>
              <a:rPr lang="fr-FR" dirty="0"/>
            </a:b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AF00D-3CE4-C460-0B5C-ED04CA151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9686" y="2544580"/>
            <a:ext cx="3612628" cy="1768840"/>
          </a:xfrm>
        </p:spPr>
        <p:txBody>
          <a:bodyPr>
            <a:normAutofit/>
          </a:bodyPr>
          <a:lstStyle/>
          <a:p>
            <a:pPr algn="ctr"/>
            <a:r>
              <a:rPr lang="fr-FR" i="1" dirty="0">
                <a:latin typeface="Arial Black" panose="020B0A04020102020204" pitchFamily="34" charset="0"/>
              </a:rPr>
              <a:t>Réaliser par :Mada Coly</a:t>
            </a:r>
          </a:p>
          <a:p>
            <a:pPr algn="ctr"/>
            <a:r>
              <a:rPr lang="fr-FR" i="1" dirty="0">
                <a:latin typeface="Arial Black" panose="020B0A04020102020204" pitchFamily="34" charset="0"/>
              </a:rPr>
              <a:t>Class:L1IAGE-NR</a:t>
            </a:r>
          </a:p>
          <a:p>
            <a:pPr algn="ctr"/>
            <a:r>
              <a:rPr lang="fr-FR" i="1" dirty="0">
                <a:latin typeface="Arial Black" panose="020B0A04020102020204" pitchFamily="34" charset="0"/>
              </a:rPr>
              <a:t>Présenter : le 29/06/2026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1603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3F00-1B65-6547-249B-3D71C403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180" y="714379"/>
            <a:ext cx="3171825" cy="1157923"/>
          </a:xfrm>
        </p:spPr>
        <p:txBody>
          <a:bodyPr>
            <a:normAutofit fontScale="90000"/>
          </a:bodyPr>
          <a:lstStyle/>
          <a:p>
            <a:r>
              <a:rPr lang="fr-FR" b="1" i="1" u="sng" dirty="0"/>
              <a:t>Sommaire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B7485-08D5-66E8-BF37-06BD6174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354" y="2052923"/>
            <a:ext cx="7630503" cy="4195481"/>
          </a:xfrm>
        </p:spPr>
        <p:txBody>
          <a:bodyPr>
            <a:normAutofit/>
          </a:bodyPr>
          <a:lstStyle/>
          <a:p>
            <a:r>
              <a:rPr lang="fr-FR" dirty="0"/>
              <a:t>•1 Présentation du projet</a:t>
            </a:r>
          </a:p>
          <a:p>
            <a:r>
              <a:rPr lang="fr-FR" dirty="0"/>
              <a:t>2. Choix de design</a:t>
            </a:r>
          </a:p>
          <a:p>
            <a:r>
              <a:rPr lang="fr-FR" dirty="0"/>
              <a:t>3. Architecture</a:t>
            </a:r>
          </a:p>
          <a:p>
            <a:r>
              <a:rPr lang="fr-FR" dirty="0"/>
              <a:t>4. Points techniques</a:t>
            </a:r>
          </a:p>
          <a:p>
            <a:r>
              <a:rPr lang="fr-FR" dirty="0"/>
              <a:t>5. GitHub</a:t>
            </a:r>
          </a:p>
          <a:p>
            <a:r>
              <a:rPr lang="fr-FR" dirty="0"/>
              <a:t>6. Difficultés</a:t>
            </a:r>
          </a:p>
          <a:p>
            <a:r>
              <a:rPr lang="fr-FR" dirty="0"/>
              <a:t>7. Ressources</a:t>
            </a:r>
          </a:p>
          <a:p>
            <a:r>
              <a:rPr lang="fr-FR" dirty="0"/>
              <a:t>8. Démonstration</a:t>
            </a:r>
          </a:p>
          <a:p>
            <a:r>
              <a:rPr lang="fr-FR" dirty="0"/>
              <a:t>9. Conclusion</a:t>
            </a:r>
          </a:p>
          <a:p>
            <a:r>
              <a:rPr lang="fr-FR" dirty="0"/>
              <a:t>10. Perspectives</a:t>
            </a:r>
          </a:p>
        </p:txBody>
      </p:sp>
    </p:spTree>
    <p:extLst>
      <p:ext uri="{BB962C8B-B14F-4D97-AF65-F5344CB8AC3E}">
        <p14:creationId xmlns:p14="http://schemas.microsoft.com/office/powerpoint/2010/main" val="113297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ADF7-6122-0795-E8A4-009E2E93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42" y="898423"/>
            <a:ext cx="6334125" cy="986473"/>
          </a:xfrm>
        </p:spPr>
        <p:txBody>
          <a:bodyPr>
            <a:normAutofit fontScale="90000"/>
          </a:bodyPr>
          <a:lstStyle/>
          <a:p>
            <a:r>
              <a:rPr lang="fr-FR" sz="4400" b="1" i="1" u="sng" dirty="0">
                <a:highlight>
                  <a:srgbClr val="000000"/>
                </a:highlight>
              </a:rPr>
              <a:t>Présentation du projet</a:t>
            </a:r>
            <a:br>
              <a:rPr lang="fr-FR" dirty="0">
                <a:highlight>
                  <a:srgbClr val="000000"/>
                </a:highlight>
              </a:rPr>
            </a:br>
            <a:endParaRPr lang="fr-FR" dirty="0">
              <a:highlight>
                <a:srgbClr val="000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BC8C-D6F6-9F5D-9ABC-97251A38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515" y="2015736"/>
            <a:ext cx="9291215" cy="3943841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•</a:t>
            </a:r>
            <a:r>
              <a:rPr lang="fr-FR" sz="26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Contexte : </a:t>
            </a:r>
            <a:r>
              <a:rPr lang="fr-FR" dirty="0">
                <a:latin typeface="Arial Black" panose="020B0A04020102020204" pitchFamily="34" charset="0"/>
              </a:rPr>
              <a:t>faciliter la mise en relation entre freelances africains et</a:t>
            </a:r>
          </a:p>
          <a:p>
            <a:r>
              <a:rPr lang="fr-FR" dirty="0">
                <a:latin typeface="Arial Black" panose="020B0A04020102020204" pitchFamily="34" charset="0"/>
              </a:rPr>
              <a:t> entreprises. La plateforme </a:t>
            </a:r>
            <a:r>
              <a:rPr lang="fr-FR" dirty="0" err="1">
                <a:latin typeface="Arial Black" panose="020B0A04020102020204" pitchFamily="34" charset="0"/>
              </a:rPr>
              <a:t>AfriTalent</a:t>
            </a:r>
            <a:r>
              <a:rPr lang="fr-FR" dirty="0">
                <a:latin typeface="Arial Black" panose="020B0A04020102020204" pitchFamily="34" charset="0"/>
              </a:rPr>
              <a:t> se positionne comme un pont numérique reliant les freelances africains qualifiés aux entreprises locales et internationales, affichant une communauté de plus de 2 500 talents. Le service simplifie la collaboration à travers un processus sécurisé en quatre étapes, couvrant des expertises clés en développement web, design UI/UX et marketing digital. Cette présentation structure la proposition de valeur d'</a:t>
            </a:r>
            <a:r>
              <a:rPr lang="fr-FR" dirty="0" err="1">
                <a:latin typeface="Arial Black" panose="020B0A04020102020204" pitchFamily="34" charset="0"/>
              </a:rPr>
              <a:t>AfriTalent</a:t>
            </a:r>
            <a:r>
              <a:rPr lang="fr-FR" dirty="0">
                <a:latin typeface="Arial Black" panose="020B0A04020102020204" pitchFamily="34" charset="0"/>
              </a:rPr>
              <a:t>, mettant en avant sa croissance avec plus de 12 000 missions gérées et une interface utilisateur moderne. Vous pouvez consulter le site officiel sur afritalent.com.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sz="26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Objectif : </a:t>
            </a:r>
            <a:r>
              <a:rPr lang="fr-FR" dirty="0">
                <a:latin typeface="Arial Black" panose="020B0A04020102020204" pitchFamily="34" charset="0"/>
              </a:rPr>
              <a:t>développer une plateforme moderne, responsive et interactive.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sz="28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Public cible : </a:t>
            </a:r>
            <a:r>
              <a:rPr lang="fr-FR" dirty="0">
                <a:latin typeface="Arial Black" panose="020B0A04020102020204" pitchFamily="34" charset="0"/>
              </a:rPr>
              <a:t>freelances, startups, PME et grandes entreprises.</a:t>
            </a:r>
          </a:p>
        </p:txBody>
      </p:sp>
    </p:spTree>
    <p:extLst>
      <p:ext uri="{BB962C8B-B14F-4D97-AF65-F5344CB8AC3E}">
        <p14:creationId xmlns:p14="http://schemas.microsoft.com/office/powerpoint/2010/main" val="19245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CA7F-EA04-97ED-B9CE-16C2A361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158" y="594177"/>
            <a:ext cx="4733925" cy="1133475"/>
          </a:xfrm>
        </p:spPr>
        <p:txBody>
          <a:bodyPr>
            <a:normAutofit fontScale="90000"/>
          </a:bodyPr>
          <a:lstStyle/>
          <a:p>
            <a:r>
              <a:rPr lang="fr-FR" sz="4900" b="1" i="1" u="sng" dirty="0">
                <a:highlight>
                  <a:srgbClr val="000000"/>
                </a:highlight>
              </a:rPr>
              <a:t>Choix de design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C2FB-A47E-3CEB-3EA6-4746D68A1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24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Palette :</a:t>
            </a:r>
          </a:p>
          <a:p>
            <a:r>
              <a:rPr lang="fr-FR" dirty="0">
                <a:latin typeface="Arial Black" panose="020B0A04020102020204" pitchFamily="34" charset="0"/>
              </a:rPr>
              <a:t> #4E6FCA (Bleu principal)</a:t>
            </a:r>
          </a:p>
          <a:p>
            <a:r>
              <a:rPr lang="fr-FR" dirty="0">
                <a:latin typeface="Arial Black" panose="020B0A04020102020204" pitchFamily="34" charset="0"/>
              </a:rPr>
              <a:t> #142C5E (Bleu foncé)</a:t>
            </a:r>
          </a:p>
          <a:p>
            <a:r>
              <a:rPr lang="fr-FR" dirty="0">
                <a:latin typeface="Arial Black" panose="020B0A04020102020204" pitchFamily="34" charset="0"/>
              </a:rPr>
              <a:t> #F59E0B (Orange)</a:t>
            </a:r>
          </a:p>
          <a:p>
            <a:r>
              <a:rPr lang="fr-FR" dirty="0">
                <a:latin typeface="Arial Black" panose="020B0A04020102020204" pitchFamily="34" charset="0"/>
              </a:rPr>
              <a:t> #A0177E (Violet)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endParaRPr lang="fr-FR" dirty="0">
              <a:latin typeface="Arial Black" panose="020B0A04020102020204" pitchFamily="34" charset="0"/>
            </a:endParaRP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sz="24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Polices : </a:t>
            </a:r>
            <a:r>
              <a:rPr lang="fr-FR" dirty="0" err="1">
                <a:latin typeface="Arial Black" panose="020B0A04020102020204" pitchFamily="34" charset="0"/>
              </a:rPr>
              <a:t>Outfit</a:t>
            </a:r>
            <a:r>
              <a:rPr lang="fr-FR" dirty="0">
                <a:latin typeface="Arial Black" panose="020B0A04020102020204" pitchFamily="34" charset="0"/>
              </a:rPr>
              <a:t> (titres) et Inter (texte).</a:t>
            </a:r>
          </a:p>
          <a:p>
            <a:r>
              <a:rPr lang="fr-FR" dirty="0">
                <a:latin typeface="Arial Black" panose="020B0A04020102020204" pitchFamily="34" charset="0"/>
              </a:rPr>
              <a:t>Inspirations : </a:t>
            </a:r>
            <a:r>
              <a:rPr lang="fr-FR" dirty="0" err="1">
                <a:latin typeface="Arial Black" panose="020B0A04020102020204" pitchFamily="34" charset="0"/>
              </a:rPr>
              <a:t>Fiverr</a:t>
            </a:r>
            <a:r>
              <a:rPr lang="fr-FR" dirty="0">
                <a:latin typeface="Arial Black" panose="020B0A04020102020204" pitchFamily="34" charset="0"/>
              </a:rPr>
              <a:t>, </a:t>
            </a:r>
            <a:r>
              <a:rPr lang="fr-FR" dirty="0" err="1">
                <a:latin typeface="Arial Black" panose="020B0A04020102020204" pitchFamily="34" charset="0"/>
              </a:rPr>
              <a:t>Upwork</a:t>
            </a:r>
            <a:r>
              <a:rPr lang="fr-FR" dirty="0">
                <a:latin typeface="Arial Black" panose="020B0A04020102020204" pitchFamily="34" charset="0"/>
              </a:rPr>
              <a:t>, Malt et LinkedIn.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4AEE5D-D249-DD78-3DB4-078048AE2514}"/>
              </a:ext>
            </a:extLst>
          </p:cNvPr>
          <p:cNvSpPr/>
          <p:nvPr/>
        </p:nvSpPr>
        <p:spPr>
          <a:xfrm>
            <a:off x="8565849" y="1727657"/>
            <a:ext cx="1155132" cy="11334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17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83C87F-5D67-19E3-5DA8-9308A2C70B7F}"/>
              </a:ext>
            </a:extLst>
          </p:cNvPr>
          <p:cNvSpPr/>
          <p:nvPr/>
        </p:nvSpPr>
        <p:spPr>
          <a:xfrm>
            <a:off x="10740421" y="3175773"/>
            <a:ext cx="1155132" cy="11334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17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687208-D3BB-44AF-B651-B3B1344726EB}"/>
              </a:ext>
            </a:extLst>
          </p:cNvPr>
          <p:cNvSpPr/>
          <p:nvPr/>
        </p:nvSpPr>
        <p:spPr>
          <a:xfrm>
            <a:off x="10740421" y="1727652"/>
            <a:ext cx="1155132" cy="113347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17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829E9F-F732-8318-272D-51F20D930DF6}"/>
              </a:ext>
            </a:extLst>
          </p:cNvPr>
          <p:cNvSpPr/>
          <p:nvPr/>
        </p:nvSpPr>
        <p:spPr>
          <a:xfrm>
            <a:off x="8565849" y="3175779"/>
            <a:ext cx="1155132" cy="113347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17"/>
          </a:p>
        </p:txBody>
      </p:sp>
    </p:spTree>
    <p:extLst>
      <p:ext uri="{BB962C8B-B14F-4D97-AF65-F5344CB8AC3E}">
        <p14:creationId xmlns:p14="http://schemas.microsoft.com/office/powerpoint/2010/main" val="2263279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5004-66DF-F92D-FCD9-6DBFDE4D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73" y="524292"/>
            <a:ext cx="9293577" cy="1059305"/>
          </a:xfrm>
        </p:spPr>
        <p:txBody>
          <a:bodyPr>
            <a:normAutofit/>
          </a:bodyPr>
          <a:lstStyle/>
          <a:p>
            <a:r>
              <a:rPr lang="fr-FR" sz="4400" b="1" i="1" u="sng" dirty="0">
                <a:highlight>
                  <a:srgbClr val="000000"/>
                </a:highlight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B3466-D364-7BDD-2599-0B1DC7F57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175909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</a:t>
            </a:r>
            <a:r>
              <a:rPr lang="fr-FR" sz="24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Pages :</a:t>
            </a:r>
          </a:p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 Accueil</a:t>
            </a:r>
          </a:p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 Freelances</a:t>
            </a:r>
          </a:p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 Tarifs</a:t>
            </a:r>
          </a:p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 À propos</a:t>
            </a:r>
          </a:p>
          <a:p>
            <a:pPr marL="0" indent="0">
              <a:buNone/>
            </a:pPr>
            <a:r>
              <a:rPr lang="fr-FR" dirty="0">
                <a:latin typeface="Arial Black" panose="020B0A04020102020204" pitchFamily="34" charset="0"/>
              </a:rPr>
              <a:t>• Contact</a:t>
            </a:r>
          </a:p>
          <a:p>
            <a:endParaRPr lang="fr-F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1F2713-F038-EFE2-EE06-902BED40E9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30633" y="2160589"/>
            <a:ext cx="3237875" cy="274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25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4F70B-240A-893E-3518-8862800C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124" y="209863"/>
            <a:ext cx="9291215" cy="1049312"/>
          </a:xfrm>
        </p:spPr>
        <p:txBody>
          <a:bodyPr>
            <a:normAutofit fontScale="90000"/>
          </a:bodyPr>
          <a:lstStyle/>
          <a:p>
            <a:r>
              <a:rPr lang="fr-FR" sz="5300" b="1" i="1" u="sng" dirty="0">
                <a:highlight>
                  <a:srgbClr val="000000"/>
                </a:highlight>
              </a:rPr>
              <a:t>Points techniques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BB92-5CA2-E676-00A7-2C08BCF66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738" y="1259175"/>
            <a:ext cx="9291215" cy="4860981"/>
          </a:xfrm>
        </p:spPr>
        <p:txBody>
          <a:bodyPr>
            <a:normAutofit fontScale="85000" lnSpcReduction="20000"/>
          </a:bodyPr>
          <a:lstStyle/>
          <a:p>
            <a:pPr marL="3657600" lvl="8" indent="0">
              <a:buNone/>
            </a:pPr>
            <a:r>
              <a:rPr lang="fr-FR" sz="33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•JavaScript :</a:t>
            </a:r>
          </a:p>
          <a:p>
            <a:pPr lvl="1" algn="ctr"/>
            <a:r>
              <a:rPr lang="fr-FR" sz="2000" dirty="0">
                <a:latin typeface="Arial Black" panose="020B0A04020102020204" pitchFamily="34" charset="0"/>
              </a:rPr>
              <a:t>- Mode sombre (</a:t>
            </a:r>
            <a:r>
              <a:rPr lang="fr-FR" sz="2000" dirty="0" err="1">
                <a:latin typeface="Arial Black" panose="020B0A04020102020204" pitchFamily="34" charset="0"/>
              </a:rPr>
              <a:t>LocalStorage</a:t>
            </a:r>
            <a:r>
              <a:rPr lang="fr-FR" sz="2000" dirty="0">
                <a:latin typeface="Arial Black" panose="020B0A040201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fr-FR" sz="2200" dirty="0">
                <a:latin typeface="Arial Black" panose="020B0A04020102020204" pitchFamily="34" charset="0"/>
              </a:rPr>
              <a:t>- Compteurs animés</a:t>
            </a:r>
          </a:p>
          <a:p>
            <a:pPr marL="0" indent="0" algn="ctr">
              <a:buNone/>
            </a:pPr>
            <a:r>
              <a:rPr lang="fr-FR" sz="2200" dirty="0">
                <a:latin typeface="Arial Black" panose="020B0A04020102020204" pitchFamily="34" charset="0"/>
              </a:rPr>
              <a:t>    - </a:t>
            </a:r>
            <a:r>
              <a:rPr lang="fr-FR" sz="2200" dirty="0" err="1">
                <a:latin typeface="Arial Black" panose="020B0A04020102020204" pitchFamily="34" charset="0"/>
              </a:rPr>
              <a:t>IntersectionObserver</a:t>
            </a:r>
            <a:endParaRPr lang="fr-FR" sz="22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fr-FR" sz="2200" dirty="0">
                <a:latin typeface="Arial Black" panose="020B0A04020102020204" pitchFamily="34" charset="0"/>
              </a:rPr>
              <a:t>        - Validation du formulaire</a:t>
            </a:r>
          </a:p>
          <a:p>
            <a:pPr marL="0" indent="0" algn="ctr">
              <a:buNone/>
            </a:pPr>
            <a:r>
              <a:rPr lang="fr-FR" sz="2200" dirty="0">
                <a:latin typeface="Arial Black" panose="020B0A04020102020204" pitchFamily="34" charset="0"/>
              </a:rPr>
              <a:t>      - Filtrage des freelances</a:t>
            </a:r>
          </a:p>
          <a:p>
            <a:pPr algn="ctr"/>
            <a:endParaRPr lang="fr-FR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fr-FR" sz="3800" b="1" dirty="0">
                <a:latin typeface="Arial Black" panose="020B0A04020102020204" pitchFamily="34" charset="0"/>
              </a:rPr>
              <a:t>    </a:t>
            </a:r>
            <a:r>
              <a:rPr lang="fr-FR" sz="33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.Bootstrap :</a:t>
            </a:r>
          </a:p>
          <a:p>
            <a:pPr marL="0" indent="0" algn="ctr">
              <a:buNone/>
            </a:pPr>
            <a:r>
              <a:rPr lang="fr-FR" sz="2500" dirty="0">
                <a:latin typeface="Arial Black" panose="020B0A04020102020204" pitchFamily="34" charset="0"/>
              </a:rPr>
              <a:t> 	</a:t>
            </a:r>
            <a:r>
              <a:rPr lang="fr-FR" sz="2500" dirty="0" err="1">
                <a:latin typeface="Arial Black" panose="020B0A04020102020204" pitchFamily="34" charset="0"/>
              </a:rPr>
              <a:t>Navbar</a:t>
            </a:r>
            <a:r>
              <a:rPr lang="fr-FR" sz="2500" dirty="0">
                <a:latin typeface="Arial Black" panose="020B0A04020102020204" pitchFamily="34" charset="0"/>
              </a:rPr>
              <a:t>, </a:t>
            </a:r>
            <a:r>
              <a:rPr lang="fr-FR" sz="2500" dirty="0" err="1">
                <a:latin typeface="Arial Black" panose="020B0A04020102020204" pitchFamily="34" charset="0"/>
              </a:rPr>
              <a:t>Cards</a:t>
            </a:r>
            <a:r>
              <a:rPr lang="fr-FR" sz="2500" dirty="0">
                <a:latin typeface="Arial Black" panose="020B0A04020102020204" pitchFamily="34" charset="0"/>
              </a:rPr>
              <a:t>, </a:t>
            </a:r>
            <a:r>
              <a:rPr lang="fr-FR" sz="2500" dirty="0" err="1">
                <a:latin typeface="Arial Black" panose="020B0A04020102020204" pitchFamily="34" charset="0"/>
              </a:rPr>
              <a:t>Carousel</a:t>
            </a:r>
            <a:r>
              <a:rPr lang="fr-FR" sz="2500" dirty="0">
                <a:latin typeface="Arial Black" panose="020B0A04020102020204" pitchFamily="34" charset="0"/>
              </a:rPr>
              <a:t>, </a:t>
            </a:r>
            <a:r>
              <a:rPr lang="fr-FR" sz="2500" dirty="0" err="1">
                <a:latin typeface="Arial Black" panose="020B0A04020102020204" pitchFamily="34" charset="0"/>
              </a:rPr>
              <a:t>Accordion</a:t>
            </a:r>
            <a:r>
              <a:rPr lang="fr-FR" sz="2500" dirty="0">
                <a:latin typeface="Arial Black" panose="020B0A04020102020204" pitchFamily="34" charset="0"/>
              </a:rPr>
              <a:t>, </a:t>
            </a:r>
            <a:r>
              <a:rPr lang="fr-FR" sz="2500" dirty="0" err="1">
                <a:latin typeface="Arial Black" panose="020B0A04020102020204" pitchFamily="34" charset="0"/>
              </a:rPr>
              <a:t>Grid</a:t>
            </a:r>
            <a:r>
              <a:rPr lang="fr-FR" sz="2500" dirty="0">
                <a:latin typeface="Arial Black" panose="020B0A04020102020204" pitchFamily="34" charset="0"/>
              </a:rPr>
              <a:t>.</a:t>
            </a:r>
          </a:p>
          <a:p>
            <a:pPr algn="ctr"/>
            <a:endParaRPr lang="fr-FR" sz="25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fr-FR" sz="3300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.CSS : </a:t>
            </a:r>
          </a:p>
          <a:p>
            <a:pPr algn="ctr"/>
            <a:r>
              <a:rPr lang="fr-FR" sz="2500" dirty="0">
                <a:latin typeface="Arial Black" panose="020B0A04020102020204" pitchFamily="34" charset="0"/>
              </a:rPr>
              <a:t>Variables, animations, responsive, media </a:t>
            </a:r>
            <a:r>
              <a:rPr lang="fr-FR" sz="2500" dirty="0" err="1">
                <a:latin typeface="Arial Black" panose="020B0A04020102020204" pitchFamily="34" charset="0"/>
              </a:rPr>
              <a:t>queries</a:t>
            </a:r>
            <a:r>
              <a:rPr lang="fr-FR" dirty="0">
                <a:latin typeface="Arial Black" panose="020B0A04020102020204" pitchFamily="34" charset="0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757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948F4-C279-83AD-BD46-1018B7B6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922" y="252984"/>
            <a:ext cx="9295603" cy="1056319"/>
          </a:xfrm>
        </p:spPr>
        <p:txBody>
          <a:bodyPr>
            <a:normAutofit/>
          </a:bodyPr>
          <a:lstStyle/>
          <a:p>
            <a:r>
              <a:rPr lang="fr-FR" sz="4400" b="1" i="1" u="sng" dirty="0">
                <a:highlight>
                  <a:srgbClr val="000000"/>
                </a:highlight>
                <a:latin typeface="Arial Black" panose="020B0A04020102020204" pitchFamily="34" charset="0"/>
              </a:rPr>
              <a:t>GitHub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A3FC21D-B750-CD69-D595-83A086F03D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2254" y="2595888"/>
            <a:ext cx="2316139" cy="3480968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C6014E0-4C9A-4CD8-0959-28A2EC7EBF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2978296" y="2595888"/>
            <a:ext cx="2587802" cy="348096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116A9-0D24-C9F5-8826-37183764FD6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978296" y="1487337"/>
            <a:ext cx="4488794" cy="720472"/>
          </a:xfrm>
        </p:spPr>
        <p:txBody>
          <a:bodyPr>
            <a:normAutofit/>
          </a:bodyPr>
          <a:lstStyle/>
          <a:p>
            <a:r>
              <a:rPr lang="fr-FR" sz="3600" i="1" dirty="0" err="1">
                <a:solidFill>
                  <a:schemeClr val="accent1"/>
                </a:solidFill>
              </a:rPr>
              <a:t>Github</a:t>
            </a:r>
            <a:r>
              <a:rPr lang="fr-FR" sz="3600" i="1" dirty="0">
                <a:solidFill>
                  <a:schemeClr val="accent1"/>
                </a:solidFill>
              </a:rPr>
              <a:t> pages/Liens: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F9B81-9F20-5081-80E0-E7223858B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453" y="2595888"/>
            <a:ext cx="3111350" cy="348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80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8AE1-B8F8-3376-7D27-901729DE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958" y="1109612"/>
            <a:ext cx="8596668" cy="1320800"/>
          </a:xfrm>
        </p:spPr>
        <p:txBody>
          <a:bodyPr/>
          <a:lstStyle/>
          <a:p>
            <a:r>
              <a:rPr lang="fr-FR" b="1" i="1" u="sng" dirty="0">
                <a:highlight>
                  <a:srgbClr val="000000"/>
                </a:highlight>
                <a:latin typeface="Arial Black" panose="020B0A04020102020204" pitchFamily="34" charset="0"/>
              </a:rPr>
              <a:t>Difficultés rencontrées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8C56-D816-0C16-642C-1DED02189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822" y="2295502"/>
            <a:ext cx="8596668" cy="4562498"/>
          </a:xfrm>
        </p:spPr>
        <p:txBody>
          <a:bodyPr>
            <a:normAutofit fontScale="92500" lnSpcReduction="10000"/>
          </a:bodyPr>
          <a:lstStyle/>
          <a:p>
            <a:r>
              <a:rPr lang="fr-FR" dirty="0">
                <a:latin typeface="Arial Black" panose="020B0A04020102020204" pitchFamily="34" charset="0"/>
              </a:rPr>
              <a:t>•1. </a:t>
            </a:r>
            <a:r>
              <a:rPr lang="fr-FR" sz="2000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Dark/Light: </a:t>
            </a:r>
          </a:p>
          <a:p>
            <a:r>
              <a:rPr lang="fr-FR" dirty="0">
                <a:latin typeface="Arial Black" panose="020B0A04020102020204" pitchFamily="34" charset="0"/>
              </a:rPr>
              <a:t>Au cours du développement d’</a:t>
            </a:r>
            <a:r>
              <a:rPr lang="fr-FR" dirty="0" err="1">
                <a:latin typeface="Arial Black" panose="020B0A04020102020204" pitchFamily="34" charset="0"/>
              </a:rPr>
              <a:t>AfriTalent</a:t>
            </a:r>
            <a:r>
              <a:rPr lang="fr-FR" dirty="0">
                <a:latin typeface="Arial Black" panose="020B0A04020102020204" pitchFamily="34" charset="0"/>
              </a:rPr>
              <a:t>, les principales difficultés ont concerné la gestion du mode clair/sombre (problèmes de couleurs et de lisibilité).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dirty="0">
                <a:latin typeface="Arial Black" panose="020B0A04020102020204" pitchFamily="34" charset="0"/>
              </a:rPr>
              <a:t>•2.</a:t>
            </a:r>
            <a:r>
              <a:rPr lang="fr-FR" sz="2200" b="1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Bootstrap:</a:t>
            </a:r>
          </a:p>
          <a:p>
            <a:r>
              <a:rPr lang="fr-FR" dirty="0">
                <a:latin typeface="Arial Black" panose="020B0A04020102020204" pitchFamily="34" charset="0"/>
              </a:rPr>
              <a:t>L’intégration de Bootstrap avec le CSS personnalisé, la correction de quelques bugs JavaScript, ainsi que la validation du code HTML2. Animation des compteurs avec </a:t>
            </a:r>
            <a:r>
              <a:rPr lang="fr-FR" dirty="0" err="1">
                <a:latin typeface="Arial Black" panose="020B0A04020102020204" pitchFamily="34" charset="0"/>
              </a:rPr>
              <a:t>IntersectionObserver</a:t>
            </a:r>
            <a:r>
              <a:rPr lang="fr-FR" dirty="0">
                <a:latin typeface="Arial Black" panose="020B0A04020102020204" pitchFamily="34" charset="0"/>
              </a:rPr>
              <a:t>.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dirty="0">
                <a:latin typeface="Arial Black" panose="020B0A04020102020204" pitchFamily="34" charset="0"/>
              </a:rPr>
              <a:t>3.</a:t>
            </a:r>
            <a:r>
              <a:rPr lang="fr-FR" sz="2200" i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Git/GitHub:</a:t>
            </a:r>
          </a:p>
          <a:p>
            <a:r>
              <a:rPr lang="fr-FR" dirty="0">
                <a:latin typeface="Arial Black" panose="020B0A04020102020204" pitchFamily="34" charset="0"/>
              </a:rPr>
              <a:t>Des difficultés ont également été rencontrées avec Git/GitHub, notamment pour les </a:t>
            </a:r>
            <a:r>
              <a:rPr lang="fr-FR" dirty="0" err="1">
                <a:latin typeface="Arial Black" panose="020B0A04020102020204" pitchFamily="34" charset="0"/>
              </a:rPr>
              <a:t>commits</a:t>
            </a:r>
            <a:r>
              <a:rPr lang="fr-FR" dirty="0">
                <a:latin typeface="Arial Black" panose="020B0A04020102020204" pitchFamily="34" charset="0"/>
              </a:rPr>
              <a:t> et le déploiement du site sur GitHub Pages.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204511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0EAC-921F-E2C7-F1E3-CCECEF23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203" y="839789"/>
            <a:ext cx="8596668" cy="1320800"/>
          </a:xfrm>
        </p:spPr>
        <p:txBody>
          <a:bodyPr/>
          <a:lstStyle/>
          <a:p>
            <a:r>
              <a:rPr lang="fr-FR" b="1" i="1" u="sng" dirty="0">
                <a:highlight>
                  <a:srgbClr val="000000"/>
                </a:highlight>
              </a:rPr>
              <a:t>Ressources et démonstration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9CC5-807C-26D0-E734-D04EFB2DC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812" y="2124453"/>
            <a:ext cx="8596668" cy="3880773"/>
          </a:xfrm>
        </p:spPr>
        <p:txBody>
          <a:bodyPr/>
          <a:lstStyle/>
          <a:p>
            <a:r>
              <a:rPr lang="fr-FR" sz="2400" b="1" i="1" u="sng" dirty="0">
                <a:solidFill>
                  <a:schemeClr val="accent1"/>
                </a:solidFill>
              </a:rPr>
              <a:t>•Ressources </a:t>
            </a:r>
            <a:r>
              <a:rPr lang="fr-FR" dirty="0"/>
              <a:t>: </a:t>
            </a:r>
          </a:p>
          <a:p>
            <a:r>
              <a:rPr lang="fr-FR" dirty="0">
                <a:latin typeface="Arial Black" panose="020B0A04020102020204" pitchFamily="34" charset="0"/>
              </a:rPr>
              <a:t>Bootstrap, Bootstrap </a:t>
            </a:r>
            <a:r>
              <a:rPr lang="fr-FR" dirty="0" err="1">
                <a:latin typeface="Arial Black" panose="020B0A04020102020204" pitchFamily="34" charset="0"/>
              </a:rPr>
              <a:t>Icons</a:t>
            </a:r>
            <a:r>
              <a:rPr lang="fr-FR" dirty="0">
                <a:latin typeface="Arial Black" panose="020B0A04020102020204" pitchFamily="34" charset="0"/>
              </a:rPr>
              <a:t>, Google Fonts, MDN, W3Schools,</a:t>
            </a:r>
          </a:p>
          <a:p>
            <a:endParaRPr lang="fr-FR" dirty="0">
              <a:latin typeface="Arial Black" panose="020B0A04020102020204" pitchFamily="34" charset="0"/>
            </a:endParaRPr>
          </a:p>
          <a:p>
            <a:r>
              <a:rPr lang="fr-FR" dirty="0"/>
              <a:t> </a:t>
            </a:r>
            <a:r>
              <a:rPr lang="fr-FR" sz="2400" b="1" i="1" u="sng" dirty="0">
                <a:solidFill>
                  <a:schemeClr val="accent1"/>
                </a:solidFill>
              </a:rPr>
              <a:t>• GitHub et Documents</a:t>
            </a:r>
            <a:r>
              <a:rPr lang="fr-FR" dirty="0">
                <a:latin typeface="Arial Black" panose="020B0A04020102020204" pitchFamily="34" charset="0"/>
              </a:rPr>
              <a:t>:</a:t>
            </a:r>
          </a:p>
          <a:p>
            <a:r>
              <a:rPr lang="fr-FR" dirty="0">
                <a:latin typeface="Arial Black" panose="020B0A04020102020204" pitchFamily="34" charset="0"/>
              </a:rPr>
              <a:t> navigation, mode sombre, filtres, FAQ, formulaire, responsive.</a:t>
            </a:r>
          </a:p>
        </p:txBody>
      </p:sp>
    </p:spTree>
    <p:extLst>
      <p:ext uri="{BB962C8B-B14F-4D97-AF65-F5344CB8AC3E}">
        <p14:creationId xmlns:p14="http://schemas.microsoft.com/office/powerpoint/2010/main" val="795185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1B06-8F32-68EB-7475-34D6EF5D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321" y="969363"/>
            <a:ext cx="8596668" cy="1320800"/>
          </a:xfrm>
        </p:spPr>
        <p:txBody>
          <a:bodyPr/>
          <a:lstStyle/>
          <a:p>
            <a:r>
              <a:rPr lang="fr-FR" b="1" i="1" u="sng" dirty="0">
                <a:highlight>
                  <a:srgbClr val="000000"/>
                </a:highlight>
                <a:latin typeface="Arial Black" panose="020B0A04020102020204" pitchFamily="34" charset="0"/>
              </a:rPr>
              <a:t>Conclusion et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2CFF-EBF1-9D51-6B57-54F93B7FA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922" y="2290163"/>
            <a:ext cx="8596668" cy="3880773"/>
          </a:xfrm>
        </p:spPr>
        <p:txBody>
          <a:bodyPr/>
          <a:lstStyle/>
          <a:p>
            <a:r>
              <a:rPr lang="fr-FR" dirty="0">
                <a:latin typeface="Arial Black" panose="020B0A04020102020204" pitchFamily="34" charset="0"/>
              </a:rPr>
              <a:t>•Le projet met en pratique HTML, CSS, Bootstrap, JavaScript et </a:t>
            </a:r>
            <a:r>
              <a:rPr lang="fr-FR" dirty="0" err="1">
                <a:latin typeface="Arial Black" panose="020B0A04020102020204" pitchFamily="34" charset="0"/>
              </a:rPr>
              <a:t>Git.Perspectives</a:t>
            </a:r>
            <a:r>
              <a:rPr lang="fr-FR" dirty="0">
                <a:latin typeface="Arial Black" panose="020B0A04020102020204" pitchFamily="34" charset="0"/>
              </a:rPr>
              <a:t> : C’est-à-dire  authentification, base de données, paiement sécurisé, messagerie, tableau de bord et API.</a:t>
            </a:r>
          </a:p>
        </p:txBody>
      </p:sp>
    </p:spTree>
    <p:extLst>
      <p:ext uri="{BB962C8B-B14F-4D97-AF65-F5344CB8AC3E}">
        <p14:creationId xmlns:p14="http://schemas.microsoft.com/office/powerpoint/2010/main" val="319387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2572</TotalTime>
  <Words>498</Words>
  <Application>Microsoft Office PowerPoint</Application>
  <PresentationFormat>Widescreen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Black</vt:lpstr>
      <vt:lpstr>Trebuchet MS</vt:lpstr>
      <vt:lpstr>Wingdings 3</vt:lpstr>
      <vt:lpstr>Facet</vt:lpstr>
      <vt:lpstr>AfriTalent </vt:lpstr>
      <vt:lpstr>Sommaire </vt:lpstr>
      <vt:lpstr>Présentation du projet </vt:lpstr>
      <vt:lpstr>Choix de design </vt:lpstr>
      <vt:lpstr>ARCHITECTURE</vt:lpstr>
      <vt:lpstr>Points techniques </vt:lpstr>
      <vt:lpstr>GitHub</vt:lpstr>
      <vt:lpstr>Difficultés rencontrées</vt:lpstr>
      <vt:lpstr>Ressources et démonstration</vt:lpstr>
      <vt:lpstr>Conclusion et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2026-06-27T00:42:56Z</dcterms:created>
  <dcterms:modified xsi:type="dcterms:W3CDTF">2026-06-28T20:18:30Z</dcterms:modified>
</cp:coreProperties>
</file>